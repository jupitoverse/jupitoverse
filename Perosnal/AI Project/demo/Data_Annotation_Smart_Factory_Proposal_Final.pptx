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The Next-Gen Data Annotation Platform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Phase 1 MVP Proposal: A Scalable, Serverless 'Smart Factory'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Presented By: Anil Rawat  |  Date: February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Executive Summary — Replacing Manual Chaos with Digital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Goal: Transition from distributed, manual workflows to a centralized internal platform.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Deliverable: Fully operational Phase 1 MVP in 8 Weeks.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Strategy: 'Smart Factory' approach using Serverless Event-Driven Architecture.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Key Win: A 'No-Ops' system that eliminates maintenance costs while handling high-volume concurrency.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Technical Foundation: REST APIs (OpenAPI), FIFO queue with deterministic claim locking, hybrid DB (PostgreSQL + MongoDB).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Understanding Your Challenge — Why the Current Process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Fragmented Workflows: Operations distributed across multiple tools create inefficiency.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Manual Bottlenecks: Ops Managers act as 'traffic cops' rather than quality managers.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Vendor Dependency: Reliance on external vendors for simple tasks due to lack of tooling.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Risk: High-volume projects risk data corruption ('double-work') without deterministic 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Our Vision: The 'Zero-Touch'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We are not just building a tool; we are building an autonomous engine.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Current State: Manual file hand-offs, email coordination, rigid vendor tools.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Future State: A 'Digital Assembly Line' where data flows automatically from Ingest -&gt; Label -&gt; Review.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The Core Promise: Deterministic Locking. No data is ever lost, no task is ever doubled.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The Automation Advantage: We use 'Robotic Gatekeepers' (Linters) to reject bad data instantly, reducing human review time by 40%.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Solution: The 'Smart Factory' — An Automated Assembly Line for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1. The Traffic Controller (Queueing): AWS SQS FIFO queues guarantee order; handle 10,000+ concurrent users; exactly-once processing with message deduplication.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2. The Robotic Gatekeeper (Auto-QA): Serverless Linters (Lambda) validate every submission instantly. Bad data is rejected at the source; schema validation + business rules.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3. Dual-Vault Storage: PostgreSQL (transactional state, claim locking, ACID) + MongoDB (flexible annotation payloads, schema evolution) + S3 (assets, signed URLs).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Technology Stack — Built on AWS (Serverless, No-Ops)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COMPUTE: AWS Lambda (Node.js 20.x). Reserved concurrency per queue consumer. VPC for DB access. $0 when idle.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QUEUEING: AWS SQS FIFO. Message group ID = batch; dedup window 5 min. 300 msg/s per queue; scale via multiple queues.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STORAGE: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PostgreSQL 15 (RDS or Aurora): users, workspaces, projects, batches, tasks, claim state; JSONB for config; row-level locking (SELECT FOR UPDATE SKIP LOCKED).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MongoDB Atlas: annotation documents (flexible schema); TTL indexes for audit; read replicas for reporting.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S3: task assets; bucket private; pre-signed URLs (15 min expiry); lifecycle to Glacier for archive.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3931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SECURITY: Okta (OIDC, JWT); AWS WAF (rate limit, geo, bot); Secrets Manager for DB credentials; no secrets in code.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API: API Gateway REST (OpenAPI 3); request validation; CORS; throttling 10k req/s.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FRONTEND: React 18 + Tailwind CSS; static build; CloudFront + S3; global CDN; HTTPS only.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OBSERVABILITY: CloudWatch Logs (structured JSON); X-Ray tracing; alarms on Lambda errors and queue depth.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Architecture Blueprint (Phase 1) — Technical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Layer 1 — Edge: CloudFront (HTTPS, TLS 1.2+); WAF; DDoS protection.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Layer 2 — API: API Gateway REST; routes /auth, /workspaces, /projects, /batches, /tasks, /queue; JWT validation (Okta); internal vs external path separation.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Layer 3 — Compute: Lambda (auth, queue consumer, linter, export); event source = SQS; async processing; DLQ for failed messages.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Layer 4 — Data: RDS PostgreSQL (primary + standby); MongoDB Atlas (VPC peering or private endpoint); S3 (private buckets).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Security: No public DB; Lambda in VPC; IAM least privilege; encryption at rest (KMS) and in transit.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Database &amp; Data Model — Concurrency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PostgreSQL (state of record):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Tables: users, workspaces, projects, batches, tasks, annotations.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tasks: id, batch_id, status, claimed_by_id, claimed_at, pipeline_stage, created_at.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Claim lock: UPDATE tasks SET claimed_by_id = $1, claimed_at = NOW() WHERE id IN (SELECT id FROM tasks WHERE batch_id = $2 AND claimed_by_id IS NULL ORDER BY created_at LIMIT 1 FOR UPDATE SKIP LOCKED) RETURNING *.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Indexes: (batch_id, status), (claimed_by_id), (created_at); JSONB GIN for filters.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3931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MongoDB (annotation payloads):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Collections: annotations (task_id, user_id, response JSON, pipeline_stage, created_at).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  • Flexible schema per project response_schema; versioned for audit.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S3: Key = workspace/project/batch/asset_id; metadata for content-type; pre-signed GET/PUT.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Atomicity: Task claim + annotation write in same transaction where possible; else idempotent keys.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Infrastructure &amp; DevOps — CI/CD, IaC,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IaC: AWS CDK or Terraform; VPC, Lambda, SQS, RDS, S3, API Gateway, WAF; versioned in Git.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CI/CD: GitHub Actions (or AWS CodePipeline); on push to main: lint, test, build; deploy to Staging; manual promote to Prod.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Environments: Dev (developer laptops + shared Dev AWS); Staging (mirrors Prod, for UAT); Prod (isolated, no direct DB access).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Secrets: AWS Secrets Manager; rotated for DB; Lambda fetches at cold start; no .env in repo.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Monitoring: CloudWatch dashboards (queue depth, Lambda duration, error rate); alarms → SNS → email/Slack; log retention 90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The User Experience: Two Distinct Portals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1. The Ops Command Center (Internal Manager)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Dashboard with real-time 'Traffic Light' status (Green=On Track, Red=Blocked).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Drag-and-drop batch upload; 'Emergency Brake' (Hold/Pause); One-Click Export.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Total control without engineering support.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2. The Rater Workbench (External Worker)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Distraction-free UI; large central canvas; minimal toolbars.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'Next Task' auto-fetch; keyboard shortcuts; real-time Linter feedback.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• Optimized for throughput and ergonomic comfort.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How It Works: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STEP 1 — INGEST: Ops creates project, uploads 10k images; system validates and pushes tickets to SQS Pending Queue.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STEP 2 — ASSIGNMENT: Rater clicks 'Start'; API pops top task from Queue; PostgreSQL locks task to User A (SELECT FOR UPDATE SKIP LOCKED); no double-claim.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STEP 3 — EXECUTION: Rater labels; auto-save (localStorage); on Submit, Linter Lambda validates; if invalid, submission blocked.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STEP 4 — DELIVERY: Valid tasks move to Done/Review; Manager exports clean JSON/CSV with signed S3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Why Trust This Solution?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FINANCIAL SAFETY: Serverless = Zero Idle Costs. If the project pauses, AWS bill ~$0. OPEX, not CAPEX.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DATA INTEGRITY: Atomic locking in PostgreSQL (FOR UPDATE SKIP LOCKED). Physically impossible for two raters to claim the same task.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SCALABILITY: SQS buffers traffic. Same architecture for 5 or 5,000 users; no re-platforming.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The 'Lean Elite' Team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The Team (Total: 4 Resources)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1x Solution Architect (Serverless Design &amp; Security)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2x Senior Full-Stack Engineers (Frontend UI + Backend Queue)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1x UI/UX Designer (Design 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51560"/>
            <a:ext cx="3931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The 8-Week Plan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Week 1-2: Infrastructure Setup &amp; Auth (Okta)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Week 3-6: 'Traffic Controller' Queue &amp; Task UI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Week 7: End-to-End Testing (5k user sim) &amp; Ops Tools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Week 8: UAT &amp; Handoff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Pricing &amp; Efficiency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Development Cost: Optimized via AI-Augmented coding (30% faster cycles).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Operational Cost (OPEX):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Traditional Server Approach: High fixed monthly cost ($500-$1000+).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  • Our Serverless Approach: Pay-per-ms (~$50-$100/mo depending on traffic).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ROI: System pays for itself via reduced DevOps hours and eliminated idle server costs.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</a:defRPr>
            </a:pPr>
            <a:r>
              <a:t>Next Steps — Ready to Launch Your Factory?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1. Immediate Action: Approval of SOW for Phase 1 MVP.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2. Pre-Requisites: Access to AWS Staging Environment &amp; Okta Config.</a:t>
            </a:r>
          </a:p>
          <a:p>
            <a:pPr>
              <a:spcAft>
                <a:spcPts val="400"/>
              </a:spcAft>
              <a:defRPr sz="1400">
                <a:solidFill>
                  <a:srgbClr val="555555"/>
                </a:solidFill>
              </a:defRPr>
            </a:pPr>
            <a:r>
              <a:t>3. Commitment: Functional, secure platform deployed in 45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1644</Words>
  <Application>Microsoft Office PowerPoint</Application>
  <PresentationFormat>On-screen Show (4:3)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Agrahari, Abhishek (Contractor)</cp:lastModifiedBy>
  <cp:revision>2</cp:revision>
  <dcterms:created xsi:type="dcterms:W3CDTF">2013-01-27T09:14:16Z</dcterms:created>
  <dcterms:modified xsi:type="dcterms:W3CDTF">2026-02-06T17:19:57Z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c73f6c-70eb-4b84-9ffa-39fe698bd292_Enabled">
    <vt:lpwstr>true</vt:lpwstr>
  </property>
  <property fmtid="{D5CDD505-2E9C-101B-9397-08002B2CF9AE}" pid="3" name="MSIP_Label_7ec73f6c-70eb-4b84-9ffa-39fe698bd292_SetDate">
    <vt:lpwstr>2026-02-06T17:19:35Z</vt:lpwstr>
  </property>
  <property fmtid="{D5CDD505-2E9C-101B-9397-08002B2CF9AE}" pid="4" name="MSIP_Label_7ec73f6c-70eb-4b84-9ffa-39fe698bd292_Method">
    <vt:lpwstr>Privileged</vt:lpwstr>
  </property>
  <property fmtid="{D5CDD505-2E9C-101B-9397-08002B2CF9AE}" pid="5" name="MSIP_Label_7ec73f6c-70eb-4b84-9ffa-39fe698bd292_Name">
    <vt:lpwstr>Non-Business Information (NB)</vt:lpwstr>
  </property>
  <property fmtid="{D5CDD505-2E9C-101B-9397-08002B2CF9AE}" pid="6" name="MSIP_Label_7ec73f6c-70eb-4b84-9ffa-39fe698bd292_SiteId">
    <vt:lpwstr>906aefe9-76a7-4f65-b82d-5ec20775d5aa</vt:lpwstr>
  </property>
  <property fmtid="{D5CDD505-2E9C-101B-9397-08002B2CF9AE}" pid="7" name="MSIP_Label_7ec73f6c-70eb-4b84-9ffa-39fe698bd292_ActionId">
    <vt:lpwstr>d1816646-9ed8-4987-b4ac-85541be6bdb0</vt:lpwstr>
  </property>
  <property fmtid="{D5CDD505-2E9C-101B-9397-08002B2CF9AE}" pid="8" name="MSIP_Label_7ec73f6c-70eb-4b84-9ffa-39fe698bd292_ContentBits">
    <vt:lpwstr>0</vt:lpwstr>
  </property>
  <property fmtid="{D5CDD505-2E9C-101B-9397-08002B2CF9AE}" pid="9" name="MSIP_Label_7ec73f6c-70eb-4b84-9ffa-39fe698bd292_Tag">
    <vt:lpwstr>10, 0, 1, 1</vt:lpwstr>
  </property>
</Properties>
</file>